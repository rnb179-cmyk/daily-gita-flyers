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All-in capex Rs 4.5 cr  → break-even ≈ year 11.8</c:v>
                </c:pt>
              </c:strCache>
            </c:strRef>
          </c:tx>
          <c:spPr>
            <a:ln w="28575">
              <a:solidFill>
                <a:srgbClr val="B3261E"/>
              </a:solidFill>
            </a:ln>
          </c:spPr>
          <c:marker>
            <c:size val="5"/>
            <c:spPr>
              <a:solidFill>
                <a:srgbClr val="B3261E"/>
              </a:solidFill>
              <a:ln>
                <a:solidFill>
                  <a:srgbClr val="B3261E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  <c:pt idx="6">
                  <c:v>Y6</c:v>
                </c:pt>
                <c:pt idx="7">
                  <c:v>Y7</c:v>
                </c:pt>
                <c:pt idx="8">
                  <c:v>Y8</c:v>
                </c:pt>
                <c:pt idx="9">
                  <c:v>Y9</c:v>
                </c:pt>
                <c:pt idx="10">
                  <c:v>Y10</c:v>
                </c:pt>
                <c:pt idx="11">
                  <c:v>Y11</c:v>
                </c:pt>
                <c:pt idx="12">
                  <c:v>Y12</c:v>
                </c:pt>
                <c:pt idx="13">
                  <c:v>Y13</c:v>
                </c:pt>
                <c:pt idx="14">
                  <c:v>Y14</c:v>
                </c:pt>
                <c:pt idx="15">
                  <c:v>Y15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-4.5</c:v>
                </c:pt>
                <c:pt idx="1">
                  <c:v>-3.085</c:v>
                </c:pt>
                <c:pt idx="2">
                  <c:v>-2.725</c:v>
                </c:pt>
                <c:pt idx="3">
                  <c:v>-2.369</c:v>
                </c:pt>
                <c:pt idx="4">
                  <c:v>-2.019</c:v>
                </c:pt>
                <c:pt idx="5">
                  <c:v>-1.674</c:v>
                </c:pt>
                <c:pt idx="6">
                  <c:v>-1.373</c:v>
                </c:pt>
                <c:pt idx="7">
                  <c:v>-1.078</c:v>
                </c:pt>
                <c:pt idx="8">
                  <c:v>-0.79</c:v>
                </c:pt>
                <c:pt idx="9">
                  <c:v>-0.508</c:v>
                </c:pt>
                <c:pt idx="10">
                  <c:v>-0.484</c:v>
                </c:pt>
                <c:pt idx="11">
                  <c:v>-0.216</c:v>
                </c:pt>
                <c:pt idx="12">
                  <c:v>0.046</c:v>
                </c:pt>
                <c:pt idx="13">
                  <c:v>0.3</c:v>
                </c:pt>
                <c:pt idx="14">
                  <c:v>0.547</c:v>
                </c:pt>
                <c:pt idx="15">
                  <c:v>0.786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MNRE benchmark capex Rs 3.5 cr  → break-even ≈ year 7.3</c:v>
                </c:pt>
              </c:strCache>
            </c:strRef>
          </c:tx>
          <c:spPr>
            <a:ln w="28575">
              <a:solidFill>
                <a:srgbClr val="EA8B00"/>
              </a:solidFill>
            </a:ln>
          </c:spPr>
          <c:marker>
            <c:size val="5"/>
            <c:spPr>
              <a:solidFill>
                <a:srgbClr val="EA8B00"/>
              </a:solidFill>
              <a:ln>
                <a:solidFill>
                  <a:srgbClr val="EA8B00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  <c:pt idx="6">
                  <c:v>Y6</c:v>
                </c:pt>
                <c:pt idx="7">
                  <c:v>Y7</c:v>
                </c:pt>
                <c:pt idx="8">
                  <c:v>Y8</c:v>
                </c:pt>
                <c:pt idx="9">
                  <c:v>Y9</c:v>
                </c:pt>
                <c:pt idx="10">
                  <c:v>Y10</c:v>
                </c:pt>
                <c:pt idx="11">
                  <c:v>Y11</c:v>
                </c:pt>
                <c:pt idx="12">
                  <c:v>Y12</c:v>
                </c:pt>
                <c:pt idx="13">
                  <c:v>Y13</c:v>
                </c:pt>
                <c:pt idx="14">
                  <c:v>Y14</c:v>
                </c:pt>
                <c:pt idx="15">
                  <c:v>Y15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-3.5</c:v>
                </c:pt>
                <c:pt idx="1">
                  <c:v>-2.085</c:v>
                </c:pt>
                <c:pt idx="2">
                  <c:v>-1.725</c:v>
                </c:pt>
                <c:pt idx="3">
                  <c:v>-1.369</c:v>
                </c:pt>
                <c:pt idx="4">
                  <c:v>-1.019</c:v>
                </c:pt>
                <c:pt idx="5">
                  <c:v>-0.674</c:v>
                </c:pt>
                <c:pt idx="6">
                  <c:v>-0.373</c:v>
                </c:pt>
                <c:pt idx="7">
                  <c:v>-0.078</c:v>
                </c:pt>
                <c:pt idx="8">
                  <c:v>0.21</c:v>
                </c:pt>
                <c:pt idx="9">
                  <c:v>0.492</c:v>
                </c:pt>
                <c:pt idx="10">
                  <c:v>0.516</c:v>
                </c:pt>
                <c:pt idx="11">
                  <c:v>0.784</c:v>
                </c:pt>
                <c:pt idx="12">
                  <c:v>1.046</c:v>
                </c:pt>
                <c:pt idx="13">
                  <c:v>1.3</c:v>
                </c:pt>
                <c:pt idx="14">
                  <c:v>1.547</c:v>
                </c:pt>
                <c:pt idx="15">
                  <c:v>1.786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5A6B62"/>
            </a:solidFill>
          </a:ln>
        </c:spPr>
        <c:txPr>
          <a:bodyPr/>
          <a:lstStyle/>
          <a:p>
            <a:pPr>
              <a:defRPr sz="900">
                <a:latin typeface="Trebuchet M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6DDD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latin typeface="Trebuchet MS"/>
                  </a:rPr>
                  <a:t>Cumulative net cash (Rs crore)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Trebuchet M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Trebuchet M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DISCOM only, Rs 3/unit  → ≈ year 11.8</c:v>
                </c:pt>
              </c:strCache>
            </c:strRef>
          </c:tx>
          <c:spPr>
            <a:ln w="28575">
              <a:solidFill>
                <a:srgbClr val="B3261E"/>
              </a:solidFill>
            </a:ln>
          </c:spPr>
          <c:marker>
            <c:size val="5"/>
            <c:spPr>
              <a:solidFill>
                <a:srgbClr val="B3261E"/>
              </a:solidFill>
              <a:ln>
                <a:solidFill>
                  <a:srgbClr val="B3261E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  <c:pt idx="6">
                  <c:v>Y6</c:v>
                </c:pt>
                <c:pt idx="7">
                  <c:v>Y7</c:v>
                </c:pt>
                <c:pt idx="8">
                  <c:v>Y8</c:v>
                </c:pt>
                <c:pt idx="9">
                  <c:v>Y9</c:v>
                </c:pt>
                <c:pt idx="10">
                  <c:v>Y10</c:v>
                </c:pt>
                <c:pt idx="11">
                  <c:v>Y11</c:v>
                </c:pt>
                <c:pt idx="12">
                  <c:v>Y12</c:v>
                </c:pt>
                <c:pt idx="13">
                  <c:v>Y13</c:v>
                </c:pt>
                <c:pt idx="14">
                  <c:v>Y14</c:v>
                </c:pt>
                <c:pt idx="15">
                  <c:v>Y15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-4.5</c:v>
                </c:pt>
                <c:pt idx="1">
                  <c:v>-3.085</c:v>
                </c:pt>
                <c:pt idx="2">
                  <c:v>-2.725</c:v>
                </c:pt>
                <c:pt idx="3">
                  <c:v>-2.369</c:v>
                </c:pt>
                <c:pt idx="4">
                  <c:v>-2.019</c:v>
                </c:pt>
                <c:pt idx="5">
                  <c:v>-1.674</c:v>
                </c:pt>
                <c:pt idx="6">
                  <c:v>-1.373</c:v>
                </c:pt>
                <c:pt idx="7">
                  <c:v>-1.078</c:v>
                </c:pt>
                <c:pt idx="8">
                  <c:v>-0.79</c:v>
                </c:pt>
                <c:pt idx="9">
                  <c:v>-0.508</c:v>
                </c:pt>
                <c:pt idx="10">
                  <c:v>-0.484</c:v>
                </c:pt>
                <c:pt idx="11">
                  <c:v>-0.216</c:v>
                </c:pt>
                <c:pt idx="12">
                  <c:v>0.046</c:v>
                </c:pt>
                <c:pt idx="13">
                  <c:v>0.3</c:v>
                </c:pt>
                <c:pt idx="14">
                  <c:v>0.547</c:v>
                </c:pt>
                <c:pt idx="15">
                  <c:v>0.786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70% to EIA Labs @ Rs 6 + 30% FLS @ Rs 3  → ≈ year 7.4</c:v>
                </c:pt>
              </c:strCache>
            </c:strRef>
          </c:tx>
          <c:spPr>
            <a:ln w="28575">
              <a:solidFill>
                <a:srgbClr val="EA8B00"/>
              </a:solidFill>
            </a:ln>
          </c:spPr>
          <c:marker>
            <c:size val="5"/>
            <c:spPr>
              <a:solidFill>
                <a:srgbClr val="EA8B00"/>
              </a:solidFill>
              <a:ln>
                <a:solidFill>
                  <a:srgbClr val="EA8B00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  <c:pt idx="6">
                  <c:v>Y6</c:v>
                </c:pt>
                <c:pt idx="7">
                  <c:v>Y7</c:v>
                </c:pt>
                <c:pt idx="8">
                  <c:v>Y8</c:v>
                </c:pt>
                <c:pt idx="9">
                  <c:v>Y9</c:v>
                </c:pt>
                <c:pt idx="10">
                  <c:v>Y10</c:v>
                </c:pt>
                <c:pt idx="11">
                  <c:v>Y11</c:v>
                </c:pt>
                <c:pt idx="12">
                  <c:v>Y12</c:v>
                </c:pt>
                <c:pt idx="13">
                  <c:v>Y13</c:v>
                </c:pt>
                <c:pt idx="14">
                  <c:v>Y14</c:v>
                </c:pt>
                <c:pt idx="15">
                  <c:v>Y15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-5.0</c:v>
                </c:pt>
                <c:pt idx="1">
                  <c:v>-4.015</c:v>
                </c:pt>
                <c:pt idx="2">
                  <c:v>-3.352</c:v>
                </c:pt>
                <c:pt idx="3">
                  <c:v>-2.695</c:v>
                </c:pt>
                <c:pt idx="4">
                  <c:v>-2.045</c:v>
                </c:pt>
                <c:pt idx="5">
                  <c:v>-1.402</c:v>
                </c:pt>
                <c:pt idx="6">
                  <c:v>-0.811</c:v>
                </c:pt>
                <c:pt idx="7">
                  <c:v>-0.227</c:v>
                </c:pt>
                <c:pt idx="8">
                  <c:v>0.348</c:v>
                </c:pt>
                <c:pt idx="9">
                  <c:v>0.914</c:v>
                </c:pt>
                <c:pt idx="10">
                  <c:v>1.222</c:v>
                </c:pt>
                <c:pt idx="11">
                  <c:v>1.771</c:v>
                </c:pt>
                <c:pt idx="12">
                  <c:v>2.311</c:v>
                </c:pt>
                <c:pt idx="13">
                  <c:v>2.842</c:v>
                </c:pt>
                <c:pt idx="14">
                  <c:v>3.363</c:v>
                </c:pt>
                <c:pt idx="15">
                  <c:v>3.875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to EIA Labs @ Rs 6.6 + 20% FLS  → ≈ year 6.3</c:v>
                </c:pt>
              </c:strCache>
            </c:strRef>
          </c:tx>
          <c:spPr>
            <a:ln w="28575">
              <a:solidFill>
                <a:srgbClr val="1D6556"/>
              </a:solidFill>
            </a:ln>
          </c:spPr>
          <c:marker>
            <c:size val="5"/>
            <c:spPr>
              <a:solidFill>
                <a:srgbClr val="1D6556"/>
              </a:solidFill>
              <a:ln>
                <a:solidFill>
                  <a:srgbClr val="1D6556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Y0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  <c:pt idx="6">
                  <c:v>Y6</c:v>
                </c:pt>
                <c:pt idx="7">
                  <c:v>Y7</c:v>
                </c:pt>
                <c:pt idx="8">
                  <c:v>Y8</c:v>
                </c:pt>
                <c:pt idx="9">
                  <c:v>Y9</c:v>
                </c:pt>
                <c:pt idx="10">
                  <c:v>Y10</c:v>
                </c:pt>
                <c:pt idx="11">
                  <c:v>Y11</c:v>
                </c:pt>
                <c:pt idx="12">
                  <c:v>Y12</c:v>
                </c:pt>
                <c:pt idx="13">
                  <c:v>Y13</c:v>
                </c:pt>
                <c:pt idx="14">
                  <c:v>Y14</c:v>
                </c:pt>
                <c:pt idx="15">
                  <c:v>Y15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-5.0</c:v>
                </c:pt>
                <c:pt idx="1">
                  <c:v>-4.003</c:v>
                </c:pt>
                <c:pt idx="2">
                  <c:v>-3.223</c:v>
                </c:pt>
                <c:pt idx="3">
                  <c:v>-2.451</c:v>
                </c:pt>
                <c:pt idx="4">
                  <c:v>-1.686</c:v>
                </c:pt>
                <c:pt idx="5">
                  <c:v>-0.928</c:v>
                </c:pt>
                <c:pt idx="6">
                  <c:v>-0.222</c:v>
                </c:pt>
                <c:pt idx="7">
                  <c:v>0.475</c:v>
                </c:pt>
                <c:pt idx="8">
                  <c:v>1.163</c:v>
                </c:pt>
                <c:pt idx="9">
                  <c:v>1.842</c:v>
                </c:pt>
                <c:pt idx="10">
                  <c:v>2.261</c:v>
                </c:pt>
                <c:pt idx="11">
                  <c:v>2.921</c:v>
                </c:pt>
                <c:pt idx="12">
                  <c:v>3.572</c:v>
                </c:pt>
                <c:pt idx="13">
                  <c:v>4.213</c:v>
                </c:pt>
                <c:pt idx="14">
                  <c:v>4.844</c:v>
                </c:pt>
                <c:pt idx="15">
                  <c:v>5.465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5A6B62"/>
            </a:solidFill>
          </a:ln>
        </c:spPr>
        <c:txPr>
          <a:bodyPr/>
          <a:lstStyle/>
          <a:p>
            <a:pPr>
              <a:defRPr sz="900">
                <a:latin typeface="Trebuchet M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6DDD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latin typeface="Trebuchet MS"/>
                  </a:rPr>
                  <a:t>Cumulative net cash (Rs crore)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Trebuchet M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Trebuchet M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decide whether to enter PM-KUSUM Component C as a developer, and whether a hybrid FLS + AI-lab structure improves the case. Audience: two decision-makers. 13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https://mnre.gov.in/en/pradhan-mantri-kisan-urja-suraksha-evam-utthaan-mahabhiyaan-pm-kusum/</a:t>
            </a:r>
          </a:p>
          <a:p>
            <a:r>
              <a:t>https://www.downtoearth.org.in/energy/centre-readies-pm-kusum-20-as-focus-shifts-to-feeder-level-solarisation</a:t>
            </a:r>
          </a:p>
          <a:p>
            <a:r>
              <a:t>https://pib.gov.in/Pressreleaseshare.aspx?PRID=1678286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RfS documents allow consortium/JV of up to 2 members; LLPs are eligible bidders. Land registration portal: farmer selects nearby 33/11 kV substation, uploads title, pays ~Rs 1,000 + GST.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https://wgbis.ces.iisc.ac.in/biodiversity/pubs/ces_tr/TR132/solarenergy.htm</a:t>
            </a:r>
          </a:p>
          <a:p>
            <a:r>
              <a:t>https://qbitsenergy.com/blog/solar-irradiance-data-india-statewise/</a:t>
            </a:r>
          </a:p>
          <a:p>
            <a:r>
              <a:t>Workbook: HESCOM_AGRI_11kV_Feeders_GEOCODE_READY.xlsx; Atlas: HESCOM_KUSUM-C_Feeder_Site_Atlas_GreenWealth.pptx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https://www.mercomindia.com/karnataka-sets-benchmark-tariff-of-%E2%82%B93-07-kwh-for-mw-scale-solar-projects</a:t>
            </a:r>
          </a:p>
          <a:p>
            <a:r>
              <a:t>https://solarquarter.com/2025/12/11/hescom-invites-bids-for-108-mw-solar-projects-under-pm-kusum-in-karnataka/</a:t>
            </a:r>
          </a:p>
          <a:p>
            <a:r>
              <a:t>https://www.downtoearth.org.in/energy/centre-readies-pm-kusum-20-as-focus-shifts-to-feeder-level-solarisation</a:t>
            </a:r>
          </a:p>
          <a:p>
            <a:r>
              <a:t>Opex build-up: O&amp;M Rs 4.5 L, lease 5 acres x Rs 50k = Rs 2.5 L, insurance Rs 0.7 L, admin Rs 0.8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Cumulative series (Rs cr): all-in [-4.5, -3.085, -2.725, -2.369, -2.019, -1.674, -1.373, -1.078, -0.79, -0.508, -0.484, -0.216, 0.046, 0.3, 0.547, 0.786]; benchmark [-3.5, -2.085, -1.725, -1.369, -1.019, -0.674, -0.373, -0.078, 0.21, 0.492, 0.516, 0.784, 1.046, 1.3, 1.547, 1.786].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https://www.aninews.in/news/business/pm-kusum-2-likely-to-be-rolled-out-soon-says-union-minister-pralhad-joshi20260807122725/</a:t>
            </a:r>
          </a:p>
          <a:p>
            <a:r>
              <a:t>https://renewablewatch.in/2026/03/10/karnataka-introduces-new-feeder-level-solarisation-programme-in-state-budget-2026-27/</a:t>
            </a:r>
          </a:p>
          <a:p>
            <a:r>
              <a:t>https://www.business-standard.com/companies/news/indigrid-acquires-solar-power-plant-at-an-enterprise-value-of-rs-1-550-cr-124022301117_1.html</a:t>
            </a:r>
          </a:p>
          <a:p>
            <a:r>
              <a:t>https://www.whalesbook.com/news/English/energy/Actis-IndiGrid-INOXGFL-Eye-Brookfields-indian-rupee3000-Cr-Green-Asset/6a57edd85cb7edf90c320e66</a:t>
            </a:r>
          </a:p>
          <a:p>
            <a:r>
              <a:t>https://www.intellinews.com/india-s-green-energy-invits-boom-is-waiting-to-happen-460838/</a:t>
            </a:r>
          </a:p>
          <a:p>
            <a:r>
              <a:t>https://www.deccanherald.com/india/pm-kusum-scheme-faces-implementation-hurdles-only-30-targets-met-as-deadline-nears-report-3141583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https://www.downtoearth.org.in/energy/solarising-farms-stressing-grids-what-are-the-challenges-for-pm-kusum-20</a:t>
            </a:r>
          </a:p>
          <a:p>
            <a:r>
              <a:t>https://www.cseindia.org/implementation-challenges-of-the-pm-kusum-scheme-12284</a:t>
            </a:r>
          </a:p>
          <a:p>
            <a:r>
              <a:t>https://www.heavengreenenergy.com/blog/kusum-tenant-farmer-rules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https://www.downtoearth.org.in/energy/solarising-farms-stressing-grids-what-are-the-challenges-for-pm-kusum-20</a:t>
            </a:r>
          </a:p>
          <a:p>
            <a:r>
              <a:t>https://www.cseindia.org/implementation-challenges-of-the-pm-kusum-scheme-12284</a:t>
            </a:r>
          </a:p>
          <a:p>
            <a:r>
              <a:t>https://solarquarter.com/2025/12/11/hescom-invites-bids-for-108-mw-solar-projects-under-pm-kusum-in-karnataka/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https://data.opencity.in/dataset/kerc-combined-tariff-order-2025</a:t>
            </a:r>
          </a:p>
          <a:p>
            <a:r>
              <a:t>https://www.jll.com/en-in/insights/market-dynamics/india-data-centers</a:t>
            </a:r>
          </a:p>
          <a:p>
            <a:r>
              <a:t>https://ianslive.in/indias-datacentre-capacity-likely-to-touch-8-gw-by-2030--20260914133906</a:t>
            </a:r>
          </a:p>
          <a:p>
            <a:r>
              <a:t>https://indianinfrastructure.com/2026/07/28/indias-data-centre-capacity-to-reach-12-gw-by-2030-says-industry-report/</a:t>
            </a:r>
          </a:p>
          <a:p>
            <a:r>
              <a:t>https://ieefa.org/resources/indias-power-hungry-data-centre-sector-crossroads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Series: DISCOM [-4.5, -3.085, -2.725, -2.369, -2.019, -1.674, -1.373, -1.078, -0.79, -0.508, -0.484, -0.216, 0.046, 0.3, 0.547, 0.786]</a:t>
            </a:r>
          </a:p>
          <a:p>
            <a:r>
              <a:t>Hybrid 70/30 [-5.0, -4.015, -3.352, -2.695, -2.045, -1.402, -0.811, -0.227, 0.348, 0.914, 1.222, 1.771, 2.311, 2.842, 3.363, 3.875]</a:t>
            </a:r>
          </a:p>
          <a:p>
            <a:r>
              <a:t>Hybrid 80/20 [-5.0, -4.003, -3.223, -2.451, -1.686, -0.928, -0.222, 0.475, 1.163, 1.842, 2.261, 2.921, 3.572, 4.213, 4.844, 5.465]</a:t>
            </a:r>
          </a:p>
          <a:p>
            <a:r>
              <a:t>Break-evens {'A_allin': 11.8, 'A_bench': 7.3, 'H_7030': 7.4, 'H_8020': 6.3}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Captive definition: Electricity Rules 2005, Rule 3 – consuming entity holds not less than 26% of ownership and consumes not less than 51% of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MNRE FLS guidelines: feeder-level plants have no provision for selling surplus power; output is dedicated to the feeder under the DISCOM PPA – hence two separate plants.</a:t>
            </a:r>
          </a:p>
          <a:p>
            <a:r>
              <a:t>https://www.pib.gov.in/Pressreleaseshare.aspx?PRID=1678286</a:t>
            </a:r>
          </a:p>
          <a:p>
            <a:r>
              <a:t>https://kredl.karnataka.gov.in/storage/pdf-files/Policy/Karnataka%20Renewable%20Energy%20Policy%202022-27%20Notification%20Copy.pdf</a:t>
            </a:r>
          </a:p>
          <a:p>
            <a:r>
              <a:t>https://www.ahlawatassociates.com/blog/india-data-centre-policy-by-state</a:t>
            </a:r>
          </a:p>
          <a:p>
            <a:r>
              <a:t>https://www.snrlaw.in/data-centres-in-india-opportunity-and-incentives/</a:t>
            </a:r>
          </a:p>
          <a:p>
            <a:r>
              <a:t>https://www.pib.gov.in/PressReleasePage.aspx?PRID=2097709</a:t>
            </a:r>
          </a:p>
          <a:p>
            <a:r>
              <a:t>https://www.outlookbusiness.com/deeptech/artificial-intelligence/govt-offers-100-compute-subsidy-for-foundational-ai-model-development</a:t>
            </a:r>
          </a:p>
          <a:p>
            <a:r>
              <a:t>Mudhol cluster (tentative): Shirol (A, 18 feeders), Uttur, Mantur, Vajramatti, Rannabelagali within ~9–14 km. Raibag has the highest feeders per station (12.7).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items ahead of capital commitment: EIA Labs facility case; Plant B captive approvals; 2.0 notification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annuity, velocity, or GreenWealth + EIA Labs – and the two-quarter preparation that does not depend on 2.0's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685800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6858000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2651760" cy="629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116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Trebuchet MS"/>
              </a:rPr>
              <a:t>Solar as a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C102"/>
                </a:solidFill>
                <a:latin typeface="Trebuchet MS"/>
              </a:rPr>
              <a:t>PM-KUSUM Component C  &amp;  the AI-Lab Alternative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2103120" cy="4445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6DDD5"/>
                </a:solidFill>
                <a:latin typeface="Trebuchet MS"/>
              </a:rPr>
              <a:t>Feeder-Level Solarisation (FLS) as a developer  ·  1 MW economics  ·  break-even reality  ·  a hybrid way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Trebuchet MS"/>
              </a:rPr>
              <a:t>Decision brief  ·  September 2026  ·  Based on a Karnataka (HESCOM) sample study, an Indian energy think-tank consultation and installation SMEs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7A878"/>
                </a:solidFill>
                <a:latin typeface="Trebuchet MS"/>
              </a:rPr>
              <a:t>Figures are 1 MW thumb rules for decision-making, not a bankable model. All data points referenced on the slide or in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PM-KUSUM Component C in one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Solarising the electricity that already runs farm pumps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657600" cy="2240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73152" cy="224028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52704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74520"/>
            <a:ext cx="33375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Farm pumps run on grid power that the state sells at near-zero tariffs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That subsidy is one of the largest recurring drains on state DISCOM budgets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Supply is unreliable; diesel fills the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657600" cy="2240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73152" cy="22402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52704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THE FIX (COMPONENT 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874520"/>
            <a:ext cx="33375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FLS – </a:t>
            </a:r>
            <a:r>
              <a:rPr sz="1050">
                <a:solidFill>
                  <a:srgbClr val="123228"/>
                </a:solidFill>
                <a:latin typeface="Trebuchet MS"/>
              </a:rPr>
              <a:t>one solar plant feeds an entire 11 kV agricultural feeder serving many pumps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IPS – </a:t>
            </a:r>
            <a:r>
              <a:rPr sz="1050">
                <a:solidFill>
                  <a:srgbClr val="123228"/>
                </a:solidFill>
                <a:latin typeface="Trebuchet MS"/>
              </a:rPr>
              <a:t>a farmer solarises their own single pump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Daytime pump load runs on sun; surplus is sold to the DISCOM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657600" cy="2240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73152" cy="22402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52704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5A3A"/>
                </a:solidFill>
                <a:latin typeface="Trebuchet MS"/>
              </a:rPr>
              <a:t>WHO PAYS WHOM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874520"/>
            <a:ext cx="33375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Centre (MNRE): </a:t>
            </a:r>
            <a:r>
              <a:rPr sz="1050">
                <a:solidFill>
                  <a:srgbClr val="123228"/>
                </a:solidFill>
                <a:latin typeface="Trebuchet MS"/>
              </a:rPr>
              <a:t>30% CFA – Rs 1.05 cr per MW, paid after commissioning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DISCOM: </a:t>
            </a:r>
            <a:r>
              <a:rPr sz="1050">
                <a:solidFill>
                  <a:srgbClr val="123228"/>
                </a:solidFill>
                <a:latin typeface="Trebuchet MS"/>
              </a:rPr>
              <a:t>signs a 25-year PPA and buys every unit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Farmer: </a:t>
            </a:r>
            <a:r>
              <a:rPr sz="1050">
                <a:solidFill>
                  <a:srgbClr val="123228"/>
                </a:solidFill>
                <a:latin typeface="Trebuchet MS"/>
              </a:rPr>
              <a:t>leases land, earns rent, keeps farming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Developer: </a:t>
            </a:r>
            <a:r>
              <a:rPr sz="1050">
                <a:solidFill>
                  <a:srgbClr val="123228"/>
                </a:solidFill>
                <a:latin typeface="Trebuchet MS"/>
              </a:rPr>
              <a:t>funds, builds, owns, operates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31920"/>
            <a:ext cx="274320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931920"/>
            <a:ext cx="2743200" cy="6400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9651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D6556"/>
                </a:solidFill>
                <a:latin typeface="Trebuchet MS"/>
              </a:rPr>
              <a:t>35 lakh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2686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grid-connected pumps targeted under Component 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931920"/>
            <a:ext cx="274320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931920"/>
            <a:ext cx="2743200" cy="6400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09651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A8B00"/>
                </a:solidFill>
                <a:latin typeface="Trebuchet MS"/>
              </a:rPr>
              <a:t>Rs 1.05 cr / MW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62686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central subsidy (30% of Rs 3.5 cr benchmark)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931920"/>
            <a:ext cx="274320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931920"/>
            <a:ext cx="2743200" cy="64008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409651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E5A3A"/>
                </a:solidFill>
                <a:latin typeface="Trebuchet MS"/>
              </a:rPr>
              <a:t>25 years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2686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fixed-tariff power purchase agreement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931920"/>
            <a:ext cx="269748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3931920"/>
            <a:ext cx="2697480" cy="64008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0965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87A878"/>
                </a:solidFill>
                <a:latin typeface="Trebuchet MS"/>
              </a:rPr>
              <a:t>0.5 – 2+ MW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62686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typical FLS plant size, ~5 acres per MW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12080"/>
            <a:ext cx="11338560" cy="96012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212080"/>
            <a:ext cx="73152" cy="960120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21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23228"/>
                </a:solidFill>
                <a:latin typeface="Trebuchet MS"/>
              </a:rPr>
              <a:t>Why MNRE pushes Component C: it is the direct fix for the agricultural power subsidy, it touches the largest number of farmers, and it is the component that fell furthest behind – which is exactly why PM-KUSUM 2.0 is being redesigned around it.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Sources: MNRE PM-KUSUM guidelines; Down To Earth (Centre readies PM-KUSUM 2.0); PIB – FLS guidelines under Component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Our entry: the developer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We do not make panels. We assemble land, capital and a DISCOM contract.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2157984" cy="25146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63040"/>
            <a:ext cx="2157984" cy="45720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5727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Trebuchet MS"/>
              </a:rPr>
              <a:t>1  LANDOWNERS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Identify farmers within ~5 km of an agri substation; sign 25-year lease (Rs 25–50k / acre / yr, 3% escalation)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87752" y="2468880"/>
            <a:ext cx="182880" cy="320040"/>
          </a:xfrm>
          <a:prstGeom prst="rightArrow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463040"/>
            <a:ext cx="2157984" cy="25146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463040"/>
            <a:ext cx="2157984" cy="45720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15727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Trebuchet MS"/>
              </a:rPr>
              <a:t>2  ASSOCIATION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05740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Form the SPV / LLP; JV with an empanelled EPC for track record; bank lines and guarantees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73752" y="2468880"/>
            <a:ext cx="182880" cy="320040"/>
          </a:xfrm>
          <a:prstGeom prst="rightArrow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80" y="1463040"/>
            <a:ext cx="2157984" cy="25146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83480" y="1463040"/>
            <a:ext cx="2157984" cy="45720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15727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Trebuchet MS"/>
              </a:rPr>
              <a:t>3  DISCOM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05740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Register land against the substation; bid the FLS tender (L1 tariff wins)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59752" y="2468880"/>
            <a:ext cx="182880" cy="320040"/>
          </a:xfrm>
          <a:prstGeom prst="rightArrow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1463040"/>
            <a:ext cx="2157984" cy="25146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1463040"/>
            <a:ext cx="2157984" cy="45720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9208" y="15727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Trebuchet MS"/>
              </a:rPr>
              <a:t>4  BUILD &amp; COMMISSION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05740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~12 months; CFA released on COD against bank guarantee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45752" y="2468880"/>
            <a:ext cx="182880" cy="320040"/>
          </a:xfrm>
          <a:prstGeom prst="rightArrow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55480" y="1463040"/>
            <a:ext cx="2157984" cy="25146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5480" y="1463040"/>
            <a:ext cx="2157984" cy="45720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5207" y="15727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Trebuchet MS"/>
              </a:rPr>
              <a:t>5  EARN / 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057400"/>
            <a:ext cx="1920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25-yr PPA cash flows – or sell the SPV to an InvIT once it is operating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206240"/>
            <a:ext cx="5577840" cy="20116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206240"/>
            <a:ext cx="73152" cy="201168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31596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WHY THE FARMER DOESN'T DO THIS HIMSELF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4663440"/>
            <a:ext cx="5257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Cannot raise Rs 3–4 cr per MW at a workable rate; would have to mortgage the land he lives 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Tenders set net-worth, track-record and bank-guarantee gates that exclude individuals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DISCOM wants one accountable counterparty for 25 years, not 40 smallholders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He wants rent and to keep farming – not to run a power plant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206240"/>
            <a:ext cx="5577840" cy="20116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4206240"/>
            <a:ext cx="73152" cy="20116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431596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WHAT WE BRING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4663440"/>
            <a:ext cx="5257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Institutional cost of capital and bank guarantees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Land aggregation across many small parcels into one bankable site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EPC / procurement / interconnection / compliance – via partner until in-house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25-year O&amp;M capability and a portfolio that spreads risk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Sources: MNRE FLS guidelines (RESCO mode, model PPA &amp; lease); Heaven Green Energy – KUSUM tenant-farmer rules; Component C RfS documents (MSEDCL, MPUVNL)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What we have already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Think-tank consultation  ·  installation SMEs  ·  a Karnataka (HESCOM) sample study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703320" cy="18288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73152" cy="182880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52704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CONSULTED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7452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An Indian energy-policy think tank on scheme design, tariff trajectory and 2.0 direction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Installation SMEs (EPC contractors) on real build cost, timelines and O&amp;M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Cross-checked against MNRE / KERC / TNERC orders and tender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83280"/>
            <a:ext cx="3703320" cy="28346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383280"/>
            <a:ext cx="73152" cy="283464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930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KARNATAKA SAMPLE STUDY (HESCOM)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40480"/>
            <a:ext cx="33832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4,852 </a:t>
            </a:r>
            <a:r>
              <a:rPr sz="1050">
                <a:solidFill>
                  <a:srgbClr val="123228"/>
                </a:solidFill>
                <a:latin typeface="Trebuchet MS"/>
              </a:rPr>
              <a:t>11 kV feeders in the July-2026 register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3,029 </a:t>
            </a:r>
            <a:r>
              <a:rPr sz="1050">
                <a:solidFill>
                  <a:srgbClr val="123228"/>
                </a:solidFill>
                <a:latin typeface="Trebuchet MS"/>
              </a:rPr>
              <a:t>pure AGRICULTURE feeders across 6 districts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401 </a:t>
            </a:r>
            <a:r>
              <a:rPr sz="1050">
                <a:solidFill>
                  <a:srgbClr val="123228"/>
                </a:solidFill>
                <a:latin typeface="Trebuchet MS"/>
              </a:rPr>
              <a:t>parent substations identified; 287 located to high confidence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2,244 </a:t>
            </a:r>
            <a:r>
              <a:rPr sz="1050">
                <a:solidFill>
                  <a:srgbClr val="123228"/>
                </a:solidFill>
                <a:latin typeface="Trebuchet MS"/>
              </a:rPr>
              <a:t>agri feeders mapped to satellite imagery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Mudhol (Bagalkot)*: </a:t>
            </a:r>
            <a:r>
              <a:rPr sz="1050">
                <a:solidFill>
                  <a:srgbClr val="123228"/>
                </a:solidFill>
                <a:latin typeface="Trebuchet MS"/>
              </a:rPr>
              <a:t>17 substations, 199 agri feeders – densest cluster; 5 biggest sites within ~10–14 km of each other</a:t>
            </a:r>
          </a:p>
        </p:txBody>
      </p:sp>
      <p:pic>
        <p:nvPicPr>
          <p:cNvPr id="17" name="Picture 16" descr="shir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4754880" cy="3120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7680" y="45537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A6B62"/>
                </a:solidFill>
                <a:latin typeface="Trebuchet MS"/>
              </a:rPr>
              <a:t>Shirol 110/11 kV substation, Mudhol taluk* – 18 agri feeders. Pin = KPTCL compound (Google Maps POI).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251460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17320"/>
            <a:ext cx="2514600" cy="6400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D6556"/>
                </a:solidFill>
                <a:latin typeface="Trebuchet MS"/>
              </a:rPr>
              <a:t>5.0–5.5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1226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kWh/m²/day GHI, N. Karnataka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606040"/>
            <a:ext cx="251460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606040"/>
            <a:ext cx="2514600" cy="6400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77063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A8B00"/>
                </a:solidFill>
                <a:latin typeface="Trebuchet MS"/>
              </a:rPr>
              <a:t>300–330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30098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clear sunny days per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794760"/>
            <a:ext cx="251460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3794760"/>
            <a:ext cx="2514600" cy="64008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395935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E5A3A"/>
                </a:solidFill>
                <a:latin typeface="Trebuchet MS"/>
              </a:rPr>
              <a:t>1,600–1,850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48970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kWh per kWp per 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937760"/>
            <a:ext cx="7452360" cy="12801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937760"/>
            <a:ext cx="73152" cy="128016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5047488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5A3A"/>
                </a:solidFill>
                <a:latin typeface="Trebuchet MS"/>
              </a:rPr>
              <a:t>WHAT THE FIELD WORK CHANGED IN OUR THINKING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39496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Feeders are lines, not points – siting is about substations. Land within 5 km of a high-feeder-count substation is the scarce input, and ~55% of cultivators are tenants who cannot sign a lease. Coordinates are Google-derived: suitable for shortlisting; ground validation precedes any land commitment.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* Mudhol / Bagalkot is a TENTATIVE area – identified through our own open-source desk research only; not a validated or chosen site.   Sources: HESCOM feeder register (Jul 2026); IISc CES; Qbits irradiance data; Google Maps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Data slide 1 – the economics of 1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Thumb rules we are using, and where each number comes 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11338560" cy="36576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996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1 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4996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BASIS /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28800"/>
            <a:ext cx="11338560" cy="4572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Capital cost, all-in (panels, structure, inverters, evacuation, land dev, IDC, contingency)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01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Rs 4.5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Thumb rule from installation SMEs; MNRE benchmark is Rs 3.5 cr/MW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28600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Central subsidy (CFA) – 30% of benchmark, paid AFTER commissioning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591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Rs 1.05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3774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MNRE: Rs 1.05 cr/MW; capped at benchmark or tender cost, whichever lower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43200"/>
            <a:ext cx="11338560" cy="4572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Our net capital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8163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Rs 3.45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346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Rs 4.5 cr – 1.05 cr (full Rs 4.5 cr must be funded up-front)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0040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Generation, conservative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735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1.5 million units / 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2918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≈17% CUF; N. Karnataka can reach 1.6–1.85 million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657600"/>
            <a:ext cx="11338560" cy="4572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Tariff assumed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7307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Rs 3.00 / unit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74903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KERC generic Rs 3.07; HESCOM Component-C ceiling was Rs 2.13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11480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187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Rs 45 lakh / yr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2062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1.5 M units × Rs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572000"/>
            <a:ext cx="11338560" cy="4572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Operating cost (O&amp;M, 5-acre lease, insurance, admin)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6451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Rs 8.5 lakh / yr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6634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Escalates ~3%/yr; steps up after year 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029200"/>
            <a:ext cx="11338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Net cash per 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1023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Rs 36.5 lakh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1206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B62"/>
                </a:solidFill>
                <a:latin typeface="Trebuchet MS"/>
              </a:rPr>
              <a:t>≈ 10.6% cash yield on net capital, before debt service and tax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596128"/>
            <a:ext cx="11338560" cy="68580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5596128"/>
            <a:ext cx="73152" cy="6858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23228"/>
                </a:solidFill>
                <a:latin typeface="Trebuchet MS"/>
              </a:rPr>
              <a:t>Simple payback on net capital: Rs 3.45 cr ÷ Rs 36.5 lakh ≈ 9.5 years – about 12 once maintenance steps up and inverters are refreshed.  Even at MNRE's Rs 3.5 cr benchmark it is ~7 years.  A 3-year payback would need ≈ Rs 5.3 / unit – a tariff India has not paid for solar since ~2015.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Sources: MNRE benchmark &amp; CFA (Down To Earth, Jan 2026); KERC generic tariff order 2025-26 (Mercom); HESCOM 108 MW Component-C RfS ceiling Rs 2.13 (SolarQuarter, Dec 2025); SME inputs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Returns from the DISCOM alone – 1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Cumulative net cash, Rs crore. CFA lands in year 1; maintenance steps up from year 6; inverter refresh in year 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78638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8458200" y="1371600"/>
            <a:ext cx="3291840" cy="21488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1371600"/>
            <a:ext cx="73152" cy="21488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8" y="148132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261E"/>
                </a:solidFill>
                <a:latin typeface="Trebuchet MS"/>
              </a:rPr>
              <a:t>WHAT THE CURVE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1828800"/>
            <a:ext cx="29718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Year-1 dip is Rs 4.5 cr out, Rs 1.05 cr back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Then ~Rs 0.35 cr a year, slowly eroding (degradation, opex escalation)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Break-even: 7 years at best, ~12 years on realistic capex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Year-15 cumulative: Rs 0.8 cr (all-in) / Rs 1.8 cr (benchmark)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3657600"/>
            <a:ext cx="3291840" cy="256032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3657600"/>
            <a:ext cx="73152" cy="256032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376732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5A3A"/>
                </a:solidFill>
                <a:latin typeface="Trebuchet MS"/>
              </a:rPr>
              <a:t>WHO THIS SUITS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4114800"/>
            <a:ext cx="2971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Infrastructure capital at 7–9% cost of funds: pension funds, InvITs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Groups with an EPC arm (margin in year 1) and a tax base to use 40% accelerated depreciation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Not a 3–5 year private-capital return on its 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Model: 1.5 M units/yr, Rs 3/unit, 0.5%/yr degradation, opex Rs 8.5 L escalating 3%, ×1.4 from year 6, Rs 25 L inverter refresh year 10, no debt, no tax. Illustrative, not bankable.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Data slide 2 – what the market is telling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Scheme progress, tariff benchmarks, and who buys finished plants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269748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697480" cy="6400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81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261E"/>
                </a:solidFill>
                <a:latin typeface="Trebuchet MS"/>
              </a:rPr>
              <a:t>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1226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of PM-KUSUM's 34.8 GW target achieved (≈10.95 GW, Dec 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269748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697480" cy="6400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81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B3261E"/>
                </a:solidFill>
                <a:latin typeface="Trebuchet MS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1226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Component A: 1,986 MW installed of 10,000 MW (Jul 2026)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417320"/>
            <a:ext cx="269748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581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A8B00"/>
                </a:solidFill>
                <a:latin typeface="Trebuchet MS"/>
              </a:rPr>
              <a:t>Rs 2.13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1226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per unit – HESCOM Component-C tender ceiling (Dec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283464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417320"/>
            <a:ext cx="2834640" cy="6400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581912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D6556"/>
                </a:solidFill>
                <a:latin typeface="Trebuchet MS"/>
              </a:rPr>
              <a:t>Rs 3.07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11226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per unit – KERC generic MW-scale solar tariff 2025-26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651760"/>
            <a:ext cx="5577840" cy="18288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2651760"/>
            <a:ext cx="73152" cy="182880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276148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THE SCHEME IS BETWEEN VERSIONS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108960"/>
            <a:ext cx="5257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PM-KUSUM 1 closed </a:t>
            </a:r>
            <a:r>
              <a:rPr sz="1050">
                <a:solidFill>
                  <a:srgbClr val="123228"/>
                </a:solidFill>
                <a:latin typeface="Trebuchet MS"/>
              </a:rPr>
              <a:t>– minister's statement, 7 Aug 2026; projects with PPAs by 31 Dec 2025 have until 31 Mar 2027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PM-KUSUM 2.0 not yet notified </a:t>
            </a:r>
            <a:r>
              <a:rPr sz="1050">
                <a:solidFill>
                  <a:srgbClr val="123228"/>
                </a:solidFill>
                <a:latin typeface="Trebuchet MS"/>
              </a:rPr>
              <a:t>– ~Rs 50,000 cr outlay, 10 GW agrivoltaics, battery storage, 'better subsidies'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Karnataka's own programme: </a:t>
            </a:r>
            <a:r>
              <a:rPr sz="1050">
                <a:solidFill>
                  <a:srgbClr val="123228"/>
                </a:solidFill>
                <a:latin typeface="Trebuchet MS"/>
              </a:rPr>
              <a:t>3 GW / Rs 10,500 cr feeder solarisation, 2,777 MW targeted this year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651760"/>
            <a:ext cx="5577840" cy="18288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651760"/>
            <a:ext cx="73152" cy="182880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76148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5A3A"/>
                </a:solidFill>
                <a:latin typeface="Trebuchet MS"/>
              </a:rPr>
              <a:t>FINISHED PLANTS DO HAVE BUYERS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108960"/>
            <a:ext cx="5257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IndiGrid (KKR): </a:t>
            </a:r>
            <a:r>
              <a:rPr sz="1050">
                <a:solidFill>
                  <a:srgbClr val="123228"/>
                </a:solidFill>
                <a:latin typeface="Trebuchet MS"/>
              </a:rPr>
              <a:t>300 MW solar for Rs 1,550 cr – Rs 5.17 cr/MW (Aug 2026)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Brookfield Bikaner 550 MW: </a:t>
            </a:r>
            <a:r>
              <a:rPr sz="1050">
                <a:solidFill>
                  <a:srgbClr val="123228"/>
                </a:solidFill>
                <a:latin typeface="Trebuchet MS"/>
              </a:rPr>
              <a:t>~Rs 3,000 cr bids from Actis, IndiGrid, INOXGFL – Rs 5.45 cr/MW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Only 2.7% </a:t>
            </a:r>
            <a:r>
              <a:rPr sz="1050">
                <a:solidFill>
                  <a:srgbClr val="123228"/>
                </a:solidFill>
                <a:latin typeface="Trebuchet MS"/>
              </a:rPr>
              <a:t>of India's operating utility solar is in InvITs – buyer base far from saturated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617720"/>
            <a:ext cx="11338560" cy="160020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617720"/>
            <a:ext cx="73152" cy="1600200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READ-ACROSS FOR 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Under-achievement is the industry voting with its wallet: at Rs 2.13/unit with DISCOM payment delays, capital stayed away. Our 7–12 year break-even is not pessimism – it is what the market concluded.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Exit values track tariff: ~Rs 5.2 cr/MW deals are consistent with ~Rs 3/unit assets. A Rs 2.13 asset is worth materially less to an InvIT.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Timing: with 1.0 closed and 2.0 pending, the coming 6–9 months are a preparatory window – land, EPC capability and entity structure progress independent of 2.0's terms.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Sources: Saur Energy (MNRE data, Mar 2026); newsonair / MNRE (Jul 2026); SolarQuarter; Mercom; ANI (7 Aug 2026); Renewable Watch (Mar 2026); Business Standard; Whalesbook; bne IntelliNews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The downside – and why starting late may be smarter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What a 25-year asset actually does to you in years 5 to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703320" cy="23774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73152" cy="2377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52704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261E"/>
                </a:solidFill>
                <a:latin typeface="Trebuchet MS"/>
              </a:rPr>
              <a:t>YEAR 5+ : THE MAINTENANCE CLIFF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745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Inverters / rectifiers approach end of design life; failures rise; a full refresh (~Rs 25 L/MW) typically lands in years 8–12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Any battery (if we add BESS) is a 6–10 year asset – replacement is a second capex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Module degradation 0.5%/yr compounds; cleaning water in N. Karnataka is a real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703320" cy="23774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73152" cy="237744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52704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YEAR 5–7 : TECHNOLOGY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87452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Module efficiency keeps stepping up (19% → 23%+); Rs/W keeps falling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Our tariff is frozen for 25 years – newer entrants bid cheaper and DISCOMs compare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Storage and agrivoltaics in 2.0 may reset what a 'good' plant looks like – and what it is worth on exit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3657600" cy="23774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73152" cy="237744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52704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5A3A"/>
                </a:solidFill>
                <a:latin typeface="Trebuchet MS"/>
              </a:rPr>
              <a:t>STRUCTURAL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87452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DISCOM receivables of 60–180 days are common – the biggest real-world risk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Fixed nominal tariff vs 25 years of inflation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Land title: ~55% of cultivators are tenants who cannot sign; disputes surface late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Illiquid: exit takes months and depends on InvIT appetite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77639"/>
            <a:ext cx="11338560" cy="2240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977639"/>
            <a:ext cx="73152" cy="224028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873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WHY A LATER START CARRIES LESS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2.0 terms move the economics. </a:t>
            </a:r>
            <a:r>
              <a:rPr sz="1050">
                <a:solidFill>
                  <a:srgbClr val="123228"/>
                </a:solidFill>
                <a:latin typeface="Trebuchet MS"/>
              </a:rPr>
              <a:t>A higher subsidy, or one paid at milestones instead of only after COD, shrinks the up-front funding gap on slide 5. A storage premium would retire the Rs 2.13 reference point.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Preparation is independent of 2.0. </a:t>
            </a:r>
            <a:r>
              <a:rPr sz="1050">
                <a:solidFill>
                  <a:srgbClr val="123228"/>
                </a:solidFill>
                <a:latin typeface="Trebuchet MS"/>
              </a:rPr>
              <a:t>Land near the best substations, the EPC partnership, the SPVs and bank lines are all built without 2.0's numbers.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Cost curves are still falling. </a:t>
            </a:r>
            <a:r>
              <a:rPr sz="1050">
                <a:solidFill>
                  <a:srgbClr val="123228"/>
                </a:solidFill>
                <a:latin typeface="Trebuchet MS"/>
              </a:rPr>
              <a:t>A 25-year asset started on today's cost curve competes for 25 years with cheaper plants built after it. A later start on a better curve carries less of that exposure.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Sources: Down To Earth – 'Solarising farms, stressing grids: challenges for PM-KUSUM 2.0'; CSE – implementation challenges; Heaven Green Energy – tenant-farmer rules; SME O&amp;M inputs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Practical challenges on the 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What operators told us actually goes wrong – beyond the spreadsheet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73152" cy="10972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447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261E"/>
                </a:solidFill>
                <a:latin typeface="Trebuchet MS"/>
              </a:rPr>
              <a:t>DISCOM payments run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3736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Receivables of 60–180 days are normal; the state utility is our only customer for 25 years. The CFA itself only arrives after COD. Model a working-capital line from day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73152" cy="10972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4447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261E"/>
                </a:solidFill>
                <a:latin typeface="Trebuchet MS"/>
              </a:rPr>
              <a:t>We are not an EPC player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73736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The ~Rs 42 L/MW build margin goes to whoever builds. Tender eligibility needs a track record we don't have, so a JV or long-run partnership is unavoidable – and the partner also becomes our 25-year O&amp;M dependency.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6032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560320"/>
            <a:ext cx="73152" cy="10972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6334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8B00"/>
                </a:solidFill>
                <a:latin typeface="Trebuchet MS"/>
              </a:rPr>
              <a:t>Land we lease today may be more than we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92608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Higher-efficiency modules and trackers keep cutting acres per MW (≈5 today, trending to 3.5–4). A 25-year lease on 5 acres/MW risks paying rent on land a repowered plant will not use.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56032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560320"/>
            <a:ext cx="73152" cy="10972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63347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8B00"/>
                </a:solidFill>
                <a:latin typeface="Trebuchet MS"/>
              </a:rPr>
              <a:t>Existing kit may have to be discarded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92608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Repowering with better modules 8–12 years in can beat nursing an old array. Solar PV modules sit under India's E-Waste (Management) Rules 2022 – end-of-life disposal is our cost and liability.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49039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749039"/>
            <a:ext cx="73152" cy="10972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8B00"/>
                </a:solidFill>
                <a:latin typeface="Trebuchet MS"/>
              </a:rPr>
              <a:t>Feeder separation is a prerequisite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114799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Many 11 kV lines still mix farm and domestic load. Until the DISCOM physically separates the agricultural feeder, FLS cannot start – and that timeline is theirs, not ours.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749039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749039"/>
            <a:ext cx="73152" cy="10972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5A3A"/>
                </a:solidFill>
                <a:latin typeface="Trebuchet MS"/>
              </a:rPr>
              <a:t>Rural site realities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114799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Dust and monsoon dips cut yield; cleaning water is scarce in N. Karnataka; module theft and cable vandalism happen; skilled O&amp;M staff must be brought in and retained.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93776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37760"/>
            <a:ext cx="73152" cy="10972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50109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5A3A"/>
                </a:solidFill>
                <a:latin typeface="Trebuchet MS"/>
              </a:rPr>
              <a:t>Policy and supply-chain churn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30352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ALMM restricts module sourcing and raises price; duty and GST changes move capex mid-project; tender ceilings keep falling (Rs 3.07 → Rs 2.13).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93776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4937760"/>
            <a:ext cx="73152" cy="10972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50109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5A3A"/>
                </a:solidFill>
                <a:latin typeface="Trebuchet MS"/>
              </a:rPr>
              <a:t>Capital locked in guarantees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5303520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Bid security and performance security (≈ Rs 1 L/MW each) plus the CFA bank guarantee tie up cash for years and shrink the leverage we can raise.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144768"/>
            <a:ext cx="11338560" cy="219456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172200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Mitigations, slides 12–15: an early EPC partnership, leases with step-down and repowering clauses, a capex ceiling of Rs 4.5 cr/MW, and written CFA / feeder-separation positions ahead of bidding.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Sources: Down To Earth (DISCOM delays, feeder separation); CSE – implementation challenges; MNRE ALMM orders; E-Waste (Management) Rules 2022; HESCOM RfS (securities); SME inputs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The alternative offtaker: EIA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The same daytime units, sold to a sister-concern AI lab alongside the DISCOM instead of only to the DISCOM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269748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697480" cy="6400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81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A8B00"/>
                </a:solidFill>
                <a:latin typeface="Trebuchet MS"/>
              </a:rPr>
              <a:t>Rs 6.60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1226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per kWh – KERC HT-2 energy charge for data centres, 2025-26 (+ Rs 345/kVA demand charge, + 36 p surcharge)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269748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697480" cy="6400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81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B3261E"/>
                </a:solidFill>
                <a:latin typeface="Trebuchet MS"/>
              </a:rPr>
              <a:t>70–75%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11226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of a compute facility's operating cost is electricity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417320"/>
            <a:ext cx="269748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58191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D6556"/>
                </a:solidFill>
                <a:latin typeface="Trebuchet MS"/>
              </a:rPr>
              <a:t>1.57 GW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1226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India's installed DC power capacity (Aug 2026), up from 375 MW in 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283464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417320"/>
            <a:ext cx="2834640" cy="64008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581912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E5A3A"/>
                </a:solidFill>
                <a:latin typeface="Trebuchet MS"/>
              </a:rPr>
              <a:t>7–12 GW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11226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projected by 2030 (CAGR ~40%); CEA sees 17 GW demand by 2031-32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651760"/>
            <a:ext cx="5577840" cy="210312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2651760"/>
            <a:ext cx="73152" cy="210312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276148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THE ARBITRAGE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3108960"/>
            <a:ext cx="5257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The DISCOM pays the plant </a:t>
            </a:r>
            <a:r>
              <a:rPr sz="1050">
                <a:solidFill>
                  <a:srgbClr val="123228"/>
                </a:solidFill>
                <a:latin typeface="Trebuchet MS"/>
              </a:rPr>
              <a:t>Rs 2.13–3.07 per unit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EIA Labs pays the grid </a:t>
            </a:r>
            <a:r>
              <a:rPr sz="1050">
                <a:solidFill>
                  <a:srgbClr val="123228"/>
                </a:solidFill>
                <a:latin typeface="Trebuchet MS"/>
              </a:rPr>
              <a:t>≈ Rs 7 per unit all-in for the same electron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At Rs 6.00 from the plant: </a:t>
            </a:r>
            <a:r>
              <a:rPr sz="1050">
                <a:solidFill>
                  <a:srgbClr val="123228"/>
                </a:solidFill>
                <a:latin typeface="Trebuchet MS"/>
              </a:rPr>
              <a:t>EIA Labs saves ~15% on its largest cost line; the plant earns 2× the DISCOM rate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23228"/>
                </a:solidFill>
                <a:latin typeface="Trebuchet MS"/>
              </a:rPr>
              <a:t>▪ Edge / small facilities are 1% </a:t>
            </a:r>
            <a:r>
              <a:rPr sz="1050">
                <a:solidFill>
                  <a:srgbClr val="123228"/>
                </a:solidFill>
                <a:latin typeface="Trebuchet MS"/>
              </a:rPr>
              <a:t>of Indian DC capacity today – the segment a 1–5 MW solar site can serve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651760"/>
            <a:ext cx="5577840" cy="210312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651760"/>
            <a:ext cx="73152" cy="210312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761488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WHY IT FITS THESE SITES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108960"/>
            <a:ext cx="5257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Rural substations with spare evacuation, low-cost land, and 300+ sunny days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Daytime AI training / batch inference loads are flexible – they follow the sun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Karnataka already prices DC power in its tariff order (HT-2 category) – the offtaker class exists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23228"/>
                </a:solidFill>
                <a:latin typeface="Trebuchet MS"/>
              </a:rPr>
              <a:t>▪ Grid supply remains the night-time source; storage is not required on day 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937760"/>
            <a:ext cx="11338560" cy="128016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37760"/>
            <a:ext cx="73152" cy="12801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261E"/>
                </a:solidFill>
                <a:latin typeface="Trebuchet MS"/>
              </a:rPr>
              <a:t>CAVEAT – STATED UP FRONT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23228"/>
                </a:solidFill>
                <a:latin typeface="Trebuchet MS"/>
              </a:rPr>
              <a:t>EIA Labs' own facility (IT load, cooling, connectivity, 24×7 power conditioning) is a separate and significant build, carried by EIA Labs. That assessment is under way with subject-matter experts; nothing on the next slide assumes GreenWealth funds it. The facility is described throughout as an AI lab.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Sources: KERC Combined Tariff Order 2025 (HT-2); JLL India data-centre mid-year report 2026; IANS / Hans India (8 GW by 2030); Indian Infrastructure (12 GW); IEEFA; tice.news; CEA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1 MW: DISCOM-only vs GreenWealth + EIA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Same sun, same land bank – a different buyer for most of the units. Cumulative net cash, Rs crore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371600"/>
          <a:ext cx="78638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8458200" y="1371600"/>
            <a:ext cx="3291840" cy="23774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1371600"/>
            <a:ext cx="73152" cy="237744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8" y="148132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WHAT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182880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Annual net cash: Rs 36.5 L → ~Rs 67 L (70/30) / ~Rs 79 L (80/20)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Break-even: ~12 yrs → ~7 / ~6 yrs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Year-15 cumulative: Rs 0.8 cr → Rs 3.9 / Rs 5.5 cr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Solar-side add-on only: dedicated feeder, metering, power conditioning ≈ Rs 0.5 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3886200"/>
            <a:ext cx="3291840" cy="233172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3886200"/>
            <a:ext cx="73152" cy="23317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399592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261E"/>
                </a:solidFill>
                <a:latin typeface="Trebuchet MS"/>
              </a:rPr>
              <a:t>HOW THIS IS STRUCTURED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4343400"/>
            <a:ext cx="29718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Two plants on one land bank: 0.3 MW FLS (Plant A – CFA, DISCOM PPA) + 0.7 MW captive (Plant B – supplies EIA Labs)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FLS output cannot be sold to a third party (MNRE FLS guidelines) – hence two plants, not one split plant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Plant B is co-located with EIA Labs, behind the meter – no wheeling charges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23228"/>
                </a:solidFill>
                <a:latin typeface="Trebuchet MS"/>
              </a:rPr>
              <a:t>▪ EIA Labs PPA at Rs 6.0–6.6; EIA Labs' facility capex sits in EIA Labs, outside this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Model as slide 6 plus: total capex Rs 5.0 cr across both plants, opex Rs 9.5 L, CFA on Plant A only. EIA Labs price anchored to KERC HT-2 data-centre energy charge (Rs 6.60/kWh). Illustrative.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GreenWealth + EIA Labs: the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PM-KUSUM money cannot follow FLS power to a third party – so the investment is split across two plants and two entities on one land bank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4892040" cy="96012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4892040" cy="36576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453896"/>
            <a:ext cx="47091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GREENWEALTH  –  developer &amp; land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82880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23228"/>
                </a:solidFill>
                <a:latin typeface="Trebuchet MS"/>
              </a:rPr>
              <a:t>▪ Leases the land from farmers; holds Plant A SPV 100% and Plant B SPV up to 74%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23228"/>
                </a:solidFill>
                <a:latin typeface="Trebuchet MS"/>
              </a:rPr>
              <a:t>▪ Carries EPC, O&amp;M and the DISCOM relationship for both plants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417320" y="2377440"/>
            <a:ext cx="320040" cy="256032"/>
          </a:xfrm>
          <a:prstGeom prst="downArrow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977639" y="2377440"/>
            <a:ext cx="320040" cy="256032"/>
          </a:xfrm>
          <a:prstGeom prst="downArrow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79192"/>
            <a:ext cx="2377440" cy="16916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679192"/>
            <a:ext cx="2377440" cy="36576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7614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PLANT A SPV  –  FLS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136392"/>
            <a:ext cx="2176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Bids the feeder tender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30% CFA – Rs 1.05 cr/MW on COD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25-yr DISCOM PPA, ~Rs 2.1–3.0/unit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Output dedicated to the feeder – no third-party sale (MNRE)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679192"/>
            <a:ext cx="2377440" cy="169164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2679192"/>
            <a:ext cx="2377440" cy="36576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27614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PLANT B SPV  –  CAPTIVE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3136392"/>
            <a:ext cx="2176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No CFA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EIA Labs holds ≥ 26% equity and takes ≥ 51% of output → captive status (Electricity Rules 2005)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Private PPA with EIA Labs at ~Rs 6/unit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Co-located, behind the meter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977639" y="4416552"/>
            <a:ext cx="320040" cy="256032"/>
          </a:xfrm>
          <a:prstGeom prst="downArrow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718304"/>
            <a:ext cx="489204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718304"/>
            <a:ext cx="4892040" cy="36576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800600"/>
            <a:ext cx="47091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EIA LABS  –  sister concern, separate 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" y="5175504"/>
            <a:ext cx="4690872" cy="548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Owns and funds the AI-lab facility; buys daytime solar from Plant B at ~Rs 6 vs ~Rs 7 from the grid; grid supplies the night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123228"/>
                </a:solidFill>
                <a:latin typeface="Trebuchet MS"/>
              </a:rPr>
              <a:t>▪ Carries its own incentive stack (right) and its own business case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852160"/>
            <a:ext cx="4892040" cy="45720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852160"/>
            <a:ext cx="73152" cy="457200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90702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23228"/>
                </a:solidFill>
                <a:latin typeface="Trebuchet MS"/>
              </a:rPr>
              <a:t>Site (tentative)*: Grade-A substation in the Mudhol / Raibag cluster* – open-source shortlist. 1 MW pilot, expandable to 5 MW.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371600"/>
            <a:ext cx="6263640" cy="384048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96128" y="145389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rebuchet MS"/>
              </a:rPr>
              <a:t>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45389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rebuchet MS"/>
              </a:rPr>
              <a:t>PROVISION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145389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rebuchet MS"/>
              </a:rPr>
              <a:t>WHAT IT GIVES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1801368"/>
            <a:ext cx="6263640" cy="58521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1801368"/>
            <a:ext cx="64008" cy="585216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1874519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A8B00"/>
                </a:solidFill>
                <a:latin typeface="Trebuchet MS"/>
              </a:rPr>
              <a:t>PLANT A SPV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874519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PM-KUSUM Component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186537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23228"/>
                </a:solidFill>
                <a:latin typeface="Trebuchet MS"/>
              </a:rPr>
              <a:t>30% CFA (Rs 1.05 cr/MW) on COD; 25-yr fixed-tariff PPA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386584"/>
            <a:ext cx="62636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2386584"/>
            <a:ext cx="64008" cy="585216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245973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6556"/>
                </a:solidFill>
                <a:latin typeface="Trebuchet MS"/>
              </a:rPr>
              <a:t>PLANT B SPV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45973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Electricity Rules 2005 – captive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450591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23228"/>
                </a:solidFill>
                <a:latin typeface="Trebuchet MS"/>
              </a:rPr>
              <a:t>With EIA Labs at ≥ 26% equity / ≥ 51% offtake: exempt from cross-subsidy and additional surcharge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971800"/>
            <a:ext cx="6263640" cy="713232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0" y="2971800"/>
            <a:ext cx="64008" cy="713232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304495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6556"/>
                </a:solidFill>
                <a:latin typeface="Trebuchet MS"/>
              </a:rPr>
              <a:t>PLANT B SPV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04495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Karnataka RE Policy 2022-27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3035808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23228"/>
                </a:solidFill>
                <a:latin typeface="Trebuchet MS"/>
              </a:rPr>
              <a:t>Captive / group-captive via open access; 100% electricity-duty exemption 8 yrs; stamp-duty exemption; investment promotion subsidy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3685032"/>
            <a:ext cx="62636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0" y="3685032"/>
            <a:ext cx="64008" cy="713232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23560" y="37581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5A3A"/>
                </a:solidFill>
                <a:latin typeface="Trebuchet MS"/>
              </a:rPr>
              <a:t>EIA LABS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758184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Karnataka Data Centre Policy 2022-27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3749040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23228"/>
                </a:solidFill>
                <a:latin typeface="Trebuchet MS"/>
              </a:rPr>
              <a:t>7% capital subsidy on fixed assets outside Bengaluru; 100% stamp-duty exemption; concessional industrial tariff; electricity-duty exemption; green-energy charge reimbursement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398264"/>
            <a:ext cx="6263640" cy="58521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4398264"/>
            <a:ext cx="64008" cy="585216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23560" y="447141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5A3A"/>
                </a:solidFill>
                <a:latin typeface="Trebuchet MS"/>
              </a:rPr>
              <a:t>EIA LABS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471416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IndiaAI Mission (MeitY)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4462272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23228"/>
                </a:solidFill>
                <a:latin typeface="Trebuchet MS"/>
              </a:rPr>
              <a:t>40% compute subsidy on GPU access (100% for foundational-model training); subsidised GPU-hour rates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4983480"/>
            <a:ext cx="62636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0" y="4983480"/>
            <a:ext cx="64008" cy="585216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50566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3261E"/>
                </a:solidFill>
                <a:latin typeface="Trebuchet MS"/>
              </a:rPr>
              <a:t>BOTH SPVs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505663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Income-tax 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3960" y="5047488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23228"/>
                </a:solidFill>
                <a:latin typeface="Trebuchet MS"/>
              </a:rPr>
              <a:t>40% accelerated depreciation in year 1, absorbed against group taxable profits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5641848"/>
            <a:ext cx="6263640" cy="667512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23560" y="5696712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23228"/>
                </a:solidFill>
                <a:latin typeface="Trebuchet MS"/>
              </a:rPr>
              <a:t>PM-KUSUM money sits on Plant A only. Every other line is a current, notified state or central policy – none of it depends on PM-KUSUM 2.0.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* Tentative area – open-source desk research only.   Sources: MNRE FLS guidelines (PIB); Electricity Rules 2005 r.3; Karnataka RE Policy 2022-27 (KREDL); Karnataka DC Policy 2022-27; IndiaAI Mission (PIB)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How the power and the load are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1 MW block: 0.3 MW to the feeder, 0.7 MW to EIA Labs by day, grid at night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6949440" cy="384048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Trebuchet MS"/>
              </a:rPr>
              <a:t>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4996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Trebuchet MS"/>
              </a:rPr>
              <a:t>SUN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996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Trebuchet MS"/>
              </a:rPr>
              <a:t>FARM PUMPS 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4996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Trebuchet MS"/>
              </a:rPr>
              <a:t>EIA LABS 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4996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Trebuchet MS"/>
              </a:rPr>
              <a:t>BALANCE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47088"/>
            <a:ext cx="6949440" cy="4572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568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06:00 – 09:00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19568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Ramp-up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9568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Feeder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568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Grid + partial solar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9568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Grid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304288"/>
            <a:ext cx="6949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304288"/>
            <a:ext cx="64008" cy="457200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4140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23228"/>
                </a:solidFill>
                <a:latin typeface="Trebuchet MS"/>
              </a:rPr>
              <a:t>09:00 – 16:00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24140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23228"/>
                </a:solidFill>
                <a:latin typeface="Trebuchet MS"/>
              </a:rPr>
              <a:t>Peak sun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4140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23228"/>
                </a:solidFill>
                <a:latin typeface="Trebuchet MS"/>
              </a:rPr>
              <a:t>Feeder (Plant 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4140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23228"/>
                </a:solidFill>
                <a:latin typeface="Trebuchet MS"/>
              </a:rPr>
              <a:t>Plant B, up to 0.7 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4140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23228"/>
                </a:solidFill>
                <a:latin typeface="Trebuchet MS"/>
              </a:rPr>
              <a:t>Surplus, if any, banked / exported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61488"/>
            <a:ext cx="6949440" cy="45720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8712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16:00 – 18:00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28712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Ramp-down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28712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Feeder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8712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Grid + partial solar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8712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Grid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218688"/>
            <a:ext cx="69494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3284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18:00 – 06:00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3284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Night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3284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Grid (DISCOM)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3284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Grid at HT-2 tariff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3284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840480"/>
            <a:ext cx="219456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3840480"/>
            <a:ext cx="2194560" cy="6400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005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A8B00"/>
                </a:solidFill>
                <a:latin typeface="Trebuchet MS"/>
              </a:rPr>
              <a:t>0.45 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53542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units / yr  →  farm feeder (Plant A, 0.3 MW)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3840480"/>
            <a:ext cx="219456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88920" y="3840480"/>
            <a:ext cx="2194560" cy="6400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4005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D6556"/>
                </a:solidFill>
                <a:latin typeface="Trebuchet MS"/>
              </a:rPr>
              <a:t>1.05 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53542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units / yr  →  EIA Labs (Plant B, 0.7 MW)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66360" y="3840480"/>
            <a:ext cx="2194560" cy="105156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66360" y="3840480"/>
            <a:ext cx="2194560" cy="64008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40050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E5A3A"/>
                </a:solidFill>
                <a:latin typeface="Trebuchet MS"/>
              </a:rPr>
              <a:t>~30%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453542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A6B62"/>
                </a:solidFill>
                <a:latin typeface="Trebuchet MS"/>
              </a:rPr>
              <a:t>of a 0.4 MW 24×7 lab load met by solar; rest from grid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029200"/>
            <a:ext cx="6949440" cy="1280160"/>
          </a:xfrm>
          <a:prstGeom prst="rect">
            <a:avLst/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5029200"/>
            <a:ext cx="73152" cy="1280160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10235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A8B00"/>
                </a:solidFill>
                <a:latin typeface="Trebuchet MS"/>
              </a:rPr>
              <a:t>SCALING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539496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23228"/>
                </a:solidFill>
                <a:latin typeface="Trebuchet MS"/>
              </a:rPr>
              <a:t>The same land bank supports up to 5 MW: 1.5 MW of FLS across the feeder tender and 3.5 MW captive, lifting solar's share of a 24×7 lab load toward 50%. Battery storage, when it earns a premium under PM-KUSUM 2.0, extends Plant B supply into the evening.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43800" y="1417320"/>
            <a:ext cx="4206240" cy="233172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43800" y="1417320"/>
            <a:ext cx="73152" cy="233172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44968" y="1527048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6556"/>
                </a:solidFill>
                <a:latin typeface="Trebuchet MS"/>
              </a:rPr>
              <a:t>WHAT GREENWEALTH GETS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968" y="1874520"/>
            <a:ext cx="38862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CFA of Rs 1.05 cr/MW on Plant A; 25-yr DISCOM cash flow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Rs 6/unit on Plant B – 2× the DISCOM rate – from a related, creditworthy offtaker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Accelerated depreciation on both SPVs; a saleable operating asset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Annual net cash ~Rs 67 L per MW vs ~Rs 36.5 L DISCOM-only (slide 11)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3800" y="3840480"/>
            <a:ext cx="4206240" cy="24688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43800" y="3840480"/>
            <a:ext cx="73152" cy="24688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44968" y="3950208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5A3A"/>
                </a:solidFill>
                <a:latin typeface="Trebuchet MS"/>
              </a:rPr>
              <a:t>WHAT EIA LABS GETS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968" y="4297680"/>
            <a:ext cx="38862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Daytime power at ~Rs 6 vs ~Rs 7 grid – ~15% off the line that is 70–75% of its opex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Captive status: no cross-subsidy or additional surcharge; electricity-duty exemption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7% capital subsidy, stamp-duty exemption, concessional tariff under the Karnataka DC Policy (outside Bengaluru)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23228"/>
                </a:solidFill>
                <a:latin typeface="Trebuchet MS"/>
              </a:rPr>
              <a:t>▪ 40% IndiaAI compute subsidy; green-power credentials for clients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Energy split at 1.5 M units/MW/yr. Lab load of 0.4 MW continuous ≈ 3.5 M units/yr; Plant B supplies ≈ 1.05 M. Sources: KERC HT-2 tariff 2025-26; Electricity Rules 2005; Karnataka DC Policy 2022-27; IndiaAI Mission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1115568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1115568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4320"/>
            <a:ext cx="2194560" cy="5207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15568"/>
            <a:ext cx="12191695" cy="31750"/>
          </a:xfrm>
          <a:prstGeom prst="rect">
            <a:avLst/>
          </a:prstGeom>
          <a:solidFill>
            <a:srgbClr val="87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774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Risks and open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3152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What we know we do not yet know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73152" cy="10972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261E"/>
                </a:solidFill>
                <a:latin typeface="Trebuchet MS"/>
              </a:rPr>
              <a:t>EIA Labs facility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Facility capex, cooling and connectivity are a separate build carried by EIA Labs; scoping is under way with SMEs. The upside on slide 11 is conditional on that case closing.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73152" cy="10972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508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3261E"/>
                </a:solidFill>
                <a:latin typeface="Trebuchet MS"/>
              </a:rPr>
              <a:t>Two-plant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828800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FLS output cannot go to a third party (MNRE), so CFA sits on Plant A only. Residual exposure: DISCOM consent, open-access charges and metering for the captive Plant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24328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624328"/>
            <a:ext cx="73152" cy="10972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7157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8B00"/>
                </a:solidFill>
                <a:latin typeface="Trebuchet MS"/>
              </a:rPr>
              <a:t>Captive &amp; open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035808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Wheeling and cross-subsidy surcharges apply if Plant B and EIA Labs are not co-located; the ≥ 26% / ≥ 51% captive test must hold every year.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624328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624328"/>
            <a:ext cx="73152" cy="10972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7157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8B00"/>
                </a:solidFill>
                <a:latin typeface="Trebuchet MS"/>
              </a:rPr>
              <a:t>Tariff ceiling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035808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Rs 2.13 (HESCOM C) vs Rs 3.07 (KERC generic): the component bid decides both income and exit value.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31336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831336"/>
            <a:ext cx="73152" cy="109728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392277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A8B00"/>
                </a:solidFill>
                <a:latin typeface="Trebuchet MS"/>
              </a:rPr>
              <a:t>DISCOM counterparty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242816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Late payment is the norm; 90–120 day receivables and a working-capital line are part of the base structure.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831336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831336"/>
            <a:ext cx="73152" cy="10972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92277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5A3A"/>
                </a:solidFill>
                <a:latin typeface="Trebuchet MS"/>
              </a:rPr>
              <a:t>Land &amp; title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242816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Tenant cultivators, joint pattas, unregistered leases – the failure that surfaces after money is spent.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038344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5038344"/>
            <a:ext cx="73152" cy="10972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51297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5A3A"/>
                </a:solidFill>
                <a:latin typeface="Trebuchet MS"/>
              </a:rPr>
              <a:t>Coordinates are Google-derived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449824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Suitable for shortlisting; the KPTCL / KREDL GIS layer is the authoritative source for siting.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038344"/>
            <a:ext cx="5577840" cy="1097280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5038344"/>
            <a:ext cx="73152" cy="1097280"/>
          </a:xfrm>
          <a:prstGeom prst="rect">
            <a:avLst/>
          </a:prstGeom>
          <a:solidFill>
            <a:srgbClr val="0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51297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5A3A"/>
                </a:solidFill>
                <a:latin typeface="Trebuchet MS"/>
              </a:rPr>
              <a:t>Terminology &amp; optics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5449824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23228"/>
                </a:solidFill>
                <a:latin typeface="Trebuchet MS"/>
              </a:rPr>
              <a:t>The facility is an AI lab. A 'data centre' beside farmland invites objections the project does not need.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382512"/>
            <a:ext cx="11384280" cy="19050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4739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A6B62"/>
                </a:solidFill>
                <a:latin typeface="Trebuchet MS"/>
              </a:rPr>
              <a:t>Colour = severity for the decision: red blocks a go-decision until answered; amber shapes the economics; green is execution hygiene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64739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7A878"/>
                </a:solidFill>
                <a:latin typeface="Trebuchet MS"/>
              </a:rPr>
              <a:t>GreenWealth  ·  PM-KUSUM Component C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6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48288" y="0"/>
            <a:ext cx="374904" cy="685800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23192" y="0"/>
            <a:ext cx="374904" cy="6858000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2194560" cy="5207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258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CC102"/>
                </a:solidFill>
                <a:latin typeface="Trebuchet MS"/>
              </a:rPr>
              <a:t>The message, in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Solar is a good sector – but it is heavy capital, and on Component C alone we must be willing to wait 7 years at best (realistically 10–12) to break even, and only then earn.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103120" cy="44450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29000"/>
            <a:ext cx="3429000" cy="1920240"/>
          </a:xfrm>
          <a:prstGeom prst="rect">
            <a:avLst/>
          </a:prstGeom>
          <a:solidFill>
            <a:srgbClr val="165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3429000" cy="73152"/>
          </a:xfrm>
          <a:prstGeom prst="rect">
            <a:avLst/>
          </a:prstGeom>
          <a:solidFill>
            <a:srgbClr val="D6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6DDD5"/>
                </a:solidFill>
                <a:latin typeface="Trebuchet MS"/>
              </a:rPr>
              <a:t>IF WE WANT THE ANNUITY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39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rebuchet MS"/>
              </a:rPr>
              <a:t>Enter Component C as designed. Accept ~7–10 yr break-even. Suits patient capital at ≤ 9% cost of funds.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429000"/>
            <a:ext cx="3429000" cy="1920240"/>
          </a:xfrm>
          <a:prstGeom prst="rect">
            <a:avLst/>
          </a:prstGeom>
          <a:solidFill>
            <a:srgbClr val="165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429000"/>
            <a:ext cx="3429000" cy="73152"/>
          </a:xfrm>
          <a:prstGeom prst="rect">
            <a:avLst/>
          </a:prstGeom>
          <a:solidFill>
            <a:srgbClr val="FCC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C102"/>
                </a:solidFill>
                <a:latin typeface="Trebuchet MS"/>
              </a:rPr>
              <a:t>IF WE WANT VELOCITY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77639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rebuchet MS"/>
              </a:rPr>
              <a:t>Develop, commission, sell to an InvIT in ~3 yrs. Needs EPC margin in-house and a ≥ Rs 3 tariff for exit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429000"/>
            <a:ext cx="3429000" cy="1920240"/>
          </a:xfrm>
          <a:prstGeom prst="rect">
            <a:avLst/>
          </a:prstGeom>
          <a:solidFill>
            <a:srgbClr val="165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429000"/>
            <a:ext cx="3429000" cy="73152"/>
          </a:xfrm>
          <a:prstGeom prst="rect">
            <a:avLst/>
          </a:prstGeom>
          <a:solidFill>
            <a:srgbClr val="EA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3611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A8B00"/>
                </a:solidFill>
                <a:latin typeface="Trebuchet MS"/>
              </a:rPr>
              <a:t>IF WE WANT BOTH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977639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Trebuchet MS"/>
              </a:rPr>
              <a:t>GreenWealth + EIA Labs: two plants on one land bank – FLS for CFA, captive solar to EIA Labs at ~Rs 6, DC-policy and IndiaAI incentives on the lab. Break-even ~6–7 yrs, double the annual cash, conditional on the facility case.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DD5"/>
                </a:solidFill>
                <a:latin typeface="Trebuchet MS"/>
              </a:rPr>
              <a:t>Position: capital is committed only after PM-KUSUM 2.0 is notified. The intervening two quarters go to land, the EPC partnership, the EIA Labs offtake agreement and the captive approvals – so that when the terms land, execution follows in weeks.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7A878"/>
                </a:solidFill>
                <a:latin typeface="Trebuchet MS"/>
              </a:rPr>
              <a:t>GreenWealth  ·  PM-KUSUM Component C decision brief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